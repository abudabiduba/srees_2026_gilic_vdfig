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DF374F5-584E-4A21-BCE4-E4779D1B46F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440" cy="1161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0920" cy="58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440" cy="4690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36AA92B5-4ADD-435E-9091-4E148EC2BFD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5680" cy="565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5680" cy="80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C6A2026B-B62B-4369-8A79-0FB14AB7A40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1680" cy="146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B4BCCF39-5C0A-48B7-96EB-D6E4B41CEAE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849AAED8-6098-4E60-891D-962F3548A10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6680" cy="585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200" cy="585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519A73A9-7981-4AB6-A216-94C35A427ED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B27A9AFF-2048-4E9C-9B85-46C63A71849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1680" cy="1361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1680" cy="149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8274A14C-2C11-46AA-AF9F-D5AC97EB4DD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776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776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D4E29EF1-3E5F-4BE9-85AE-9D46A81E054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560" cy="63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560" cy="395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000" cy="63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000" cy="395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" name="PlaceHolder 6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7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8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E3D2EC4-18B3-4318-A11F-233C65E415B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726A89F1-55E4-4FE9-A995-9A7C5B893B0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jpe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8.jpe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81C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"/>
          <p:cNvPicPr/>
          <p:nvPr/>
        </p:nvPicPr>
        <p:blipFill>
          <a:blip r:embed="rId1">
            <a:alphaModFix amt="50000"/>
          </a:blip>
          <a:stretch/>
        </p:blipFill>
        <p:spPr>
          <a:xfrm>
            <a:off x="0" y="324360"/>
            <a:ext cx="12191040" cy="6076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" name="TextBox 1"/>
          <p:cNvSpPr/>
          <p:nvPr/>
        </p:nvSpPr>
        <p:spPr>
          <a:xfrm>
            <a:off x="914400" y="1828800"/>
            <a:ext cx="10362240" cy="252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Trebuchet MS"/>
              </a:rPr>
              <a:t>Dvostrano napajani asinhroni generator (DFIG)</a:t>
            </a:r>
            <a:endParaRPr lang="en-US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001"/>
              </a:spcBef>
            </a:pPr>
            <a:r>
              <a:rPr lang="en-US" sz="2200" b="0" u="none" strike="noStrike">
                <a:solidFill>
                  <a:srgbClr val="009688"/>
                </a:solidFill>
                <a:effectLst/>
                <a:uFillTx/>
                <a:latin typeface="Calibri"/>
              </a:rPr>
              <a:t>Dinamičko DAE modeliranje, analiza i plugin pretvarač za dTwin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0"/>
              </a:spcBef>
            </a:pPr>
            <a:r>
              <a:rPr lang="en-US" sz="1600" b="0" u="none" strike="noStrike">
                <a:solidFill>
                  <a:srgbClr val="B4B4B4"/>
                </a:solidFill>
                <a:effectLst/>
                <a:uFillTx/>
                <a:latin typeface="Calibri"/>
              </a:rPr>
              <a:t>  |  Prezentacija projekta (5-6 minuta)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Box 1"/>
          <p:cNvSpPr/>
          <p:nvPr/>
        </p:nvSpPr>
        <p:spPr>
          <a:xfrm>
            <a:off x="731520" y="0"/>
            <a:ext cx="1051488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121E31"/>
                </a:solidFill>
                <a:effectLst/>
                <a:uFillTx/>
                <a:latin typeface="Trebuchet MS"/>
              </a:rPr>
              <a:t>Šta je to DFIG vjetroturbina?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Rectangle 2"/>
          <p:cNvSpPr/>
          <p:nvPr/>
        </p:nvSpPr>
        <p:spPr>
          <a:xfrm>
            <a:off x="731520" y="731520"/>
            <a:ext cx="10728000" cy="36000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67" name=""/>
          <p:cNvPicPr/>
          <p:nvPr/>
        </p:nvPicPr>
        <p:blipFill>
          <a:blip r:embed="rId1">
            <a:alphaModFix amt="50000"/>
          </a:blip>
          <a:srcRect l="0" t="5556" r="0" b="19991"/>
          <a:stretch/>
        </p:blipFill>
        <p:spPr>
          <a:xfrm>
            <a:off x="1143000" y="2978280"/>
            <a:ext cx="9963360" cy="387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TextBox 3"/>
          <p:cNvSpPr/>
          <p:nvPr/>
        </p:nvSpPr>
        <p:spPr>
          <a:xfrm>
            <a:off x="731520" y="960120"/>
            <a:ext cx="10728000" cy="219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323232"/>
                </a:solidFill>
                <a:effectLst/>
                <a:uFillTx/>
                <a:latin typeface="Calibri"/>
              </a:rPr>
              <a:t>•  Stator direktno spojen na mrežu: Radi na konstantnoj frekvenciji trofazne mreže.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323232"/>
                </a:solidFill>
                <a:effectLst/>
                <a:uFillTx/>
                <a:latin typeface="Calibri"/>
              </a:rPr>
              <a:t>•  Rotor spojen preko back-to-back pretvarača: Sastoji se od RSC (rotor) i GSC (mreža) pretvarača.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323232"/>
                </a:solidFill>
                <a:effectLst/>
                <a:uFillTx/>
                <a:latin typeface="Calibri"/>
              </a:rPr>
              <a:t>•  Kontrola snage klizanja: Pretvarač dimenzionisan samo za snagu klizanja (25-30% nominalne snage), što znatno smanjuje ukupne troškove opreme.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323232"/>
                </a:solidFill>
                <a:effectLst/>
                <a:uFillTx/>
                <a:latin typeface="Calibri"/>
              </a:rPr>
              <a:t>•  Razdvojena (dekuplovana) regulacija snage: Vektorskom kontrolom se nezavisno upravlja aktivnom (P_h) i reaktivnom (Q_h) snagom statora.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"/>
          <p:cNvSpPr/>
          <p:nvPr/>
        </p:nvSpPr>
        <p:spPr>
          <a:xfrm>
            <a:off x="457200" y="914400"/>
            <a:ext cx="11201040" cy="2285640"/>
          </a:xfrm>
          <a:prstGeom prst="roundRect">
            <a:avLst>
              <a:gd name="adj" fmla="val 16667"/>
            </a:avLst>
          </a:prstGeom>
          <a:solidFill>
            <a:srgbClr val="333333">
              <a:alpha val="4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extBox 1"/>
          <p:cNvSpPr/>
          <p:nvPr/>
        </p:nvSpPr>
        <p:spPr>
          <a:xfrm>
            <a:off x="731520" y="457200"/>
            <a:ext cx="1051488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121E31"/>
                </a:solidFill>
                <a:effectLst/>
                <a:uFillTx/>
                <a:latin typeface="Trebuchet MS"/>
              </a:rPr>
              <a:t>Matematički model: Milanov dq-DAE model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Rectangle 2"/>
          <p:cNvSpPr/>
          <p:nvPr/>
        </p:nvSpPr>
        <p:spPr>
          <a:xfrm>
            <a:off x="731520" y="1188720"/>
            <a:ext cx="10728000" cy="36000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2" name=""/>
          <p:cNvSpPr/>
          <p:nvPr/>
        </p:nvSpPr>
        <p:spPr>
          <a:xfrm>
            <a:off x="457200" y="1600200"/>
            <a:ext cx="11201040" cy="2971440"/>
          </a:xfrm>
          <a:prstGeom prst="roundRect">
            <a:avLst>
              <a:gd name="adj" fmla="val 16667"/>
            </a:avLst>
          </a:prstGeom>
          <a:solidFill>
            <a:srgbClr val="333333">
              <a:alpha val="81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3"/>
          <p:cNvSpPr/>
          <p:nvPr/>
        </p:nvSpPr>
        <p:spPr>
          <a:xfrm>
            <a:off x="731520" y="1645920"/>
            <a:ext cx="10728000" cy="277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Tri dinamičke varijable stanja (ODE):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  -  Brzina rotora (w_m): Dinamika ravnoteže mehaničkog i elektromagnetnog momenta.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  -  Rotorske struje (i_rq, i_rd): Vremenska kašnjenja prvog reda koja modeliraju RSC kontroler.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Elektromagnetni moment (T_e): Algebarski povezuje rotorsku struju i_rq i napon sabirnice v_h.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Ubrizgavanje snage u mrežu: Računanje aktivne snage P_h i reaktivne snage Q_h na sabirnici generatora.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Kompatibilnost sa rješavačem: Jednačine unesene direktno u ODE blokove radi stabilnijeg rada.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Box 1"/>
          <p:cNvSpPr/>
          <p:nvPr/>
        </p:nvSpPr>
        <p:spPr>
          <a:xfrm>
            <a:off x="731520" y="457200"/>
            <a:ext cx="1051488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121E31"/>
                </a:solidFill>
                <a:effectLst/>
                <a:uFillTx/>
                <a:latin typeface="Trebuchet MS"/>
              </a:rPr>
              <a:t>Arhitektura programa i ModelConverter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Rectangle 2"/>
          <p:cNvSpPr/>
          <p:nvPr/>
        </p:nvSpPr>
        <p:spPr>
          <a:xfrm>
            <a:off x="731520" y="1188720"/>
            <a:ext cx="10728000" cy="36000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" name=""/>
          <p:cNvSpPr/>
          <p:nvPr/>
        </p:nvSpPr>
        <p:spPr>
          <a:xfrm>
            <a:off x="457200" y="1600200"/>
            <a:ext cx="11201040" cy="2971440"/>
          </a:xfrm>
          <a:prstGeom prst="roundRect">
            <a:avLst>
              <a:gd name="adj" fmla="val 16667"/>
            </a:avLst>
          </a:prstGeom>
          <a:solidFill>
            <a:srgbClr val="333333">
              <a:alpha val="8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3"/>
          <p:cNvSpPr/>
          <p:nvPr/>
        </p:nvSpPr>
        <p:spPr>
          <a:xfrm>
            <a:off x="731520" y="1645920"/>
            <a:ext cx="10728000" cy="28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Faze 1-3: Parsiranje XML-a i izgradnja matrica (rijetka Y-bus matrica admitansi, guste matrice napona i parametara).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Faze 4-5: Zapisivanje konfiguracionog zaglavlja DMODL-a i deklaracija početnih stanja varijabli.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Faza 6: Sekcija parametara s konstantama i registracija algebarskih izlaza kao [out=true].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Faze 7-10: Generisanje ODE jednačina, postprocesiranja i kreiranje izlaznih datoteka (.dmodl i .vmodl).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Memorijska stabilnost: Pisanje putem lokalnih bafera sprečava curenje memorije i rušenje dTwin-a.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Box 1"/>
          <p:cNvSpPr/>
          <p:nvPr/>
        </p:nvSpPr>
        <p:spPr>
          <a:xfrm>
            <a:off x="731520" y="457200"/>
            <a:ext cx="1051488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121E31"/>
                </a:solidFill>
                <a:effectLst/>
                <a:uFillTx/>
                <a:latin typeface="Trebuchet MS"/>
              </a:rPr>
              <a:t>Simulacija i analiza: IEEE 9-sabirnički sistem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Rectangle 2"/>
          <p:cNvSpPr/>
          <p:nvPr/>
        </p:nvSpPr>
        <p:spPr>
          <a:xfrm>
            <a:off x="731520" y="1188720"/>
            <a:ext cx="10728000" cy="36000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"/>
          <p:cNvSpPr/>
          <p:nvPr/>
        </p:nvSpPr>
        <p:spPr>
          <a:xfrm>
            <a:off x="457200" y="1600200"/>
            <a:ext cx="11201040" cy="3657240"/>
          </a:xfrm>
          <a:prstGeom prst="roundRect">
            <a:avLst>
              <a:gd name="adj" fmla="val 16667"/>
            </a:avLst>
          </a:prstGeom>
          <a:solidFill>
            <a:srgbClr val="333333">
              <a:alpha val="7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3"/>
          <p:cNvSpPr/>
          <p:nvPr/>
        </p:nvSpPr>
        <p:spPr>
          <a:xfrm>
            <a:off x="731520" y="1645920"/>
            <a:ext cx="10728000" cy="344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Aktivna snaga (P_h): Brzo se stabilizuje na vrijednosti od oko 1.63 p.u. (163 MW na bazi 100 MVA).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Reaktivna snaga (Q_h): Reguliše se na stabilnih -0.12 p.u. radi pružanja naponske podrške sabirnici.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Dinamika rotora: Brzina rotora (w_m) glatko ubrzava sa 1.0 p.u. i ustaljuje se na optimalnih 1.2 p.u.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Upravljanje strujama: Rotorske struje (i_rq i i_rd) stabilno prate reference pretvarača na strani rotora.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Stabilnost sinhronih mašina: Oscilacije uglova i brzina preostala dva generatora prigušuju se za manje od 4 sekunde.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Box 1"/>
          <p:cNvSpPr/>
          <p:nvPr/>
        </p:nvSpPr>
        <p:spPr>
          <a:xfrm>
            <a:off x="731520" y="457200"/>
            <a:ext cx="1051488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B2B2B2"/>
                </a:solidFill>
                <a:effectLst/>
                <a:uFillTx/>
                <a:latin typeface="Trebuchet MS"/>
              </a:rPr>
              <a:t>Simulacija i analiza: IEEE 118-sabirnički sistem</a:t>
            </a:r>
            <a:endParaRPr lang="en-US" sz="3200" b="0" u="none" strike="noStrike">
              <a:solidFill>
                <a:srgbClr val="B2B2B2"/>
              </a:solidFill>
              <a:effectLst/>
              <a:uFillTx/>
              <a:latin typeface="Arial"/>
            </a:endParaRPr>
          </a:p>
        </p:txBody>
      </p:sp>
      <p:sp>
        <p:nvSpPr>
          <p:cNvPr id="83" name="Rectangle 2"/>
          <p:cNvSpPr/>
          <p:nvPr/>
        </p:nvSpPr>
        <p:spPr>
          <a:xfrm>
            <a:off x="731520" y="1188720"/>
            <a:ext cx="10728000" cy="36000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" name=""/>
          <p:cNvSpPr/>
          <p:nvPr/>
        </p:nvSpPr>
        <p:spPr>
          <a:xfrm>
            <a:off x="457200" y="1600200"/>
            <a:ext cx="11201040" cy="3200040"/>
          </a:xfrm>
          <a:prstGeom prst="roundRect">
            <a:avLst>
              <a:gd name="adj" fmla="val 16667"/>
            </a:avLst>
          </a:prstGeom>
          <a:solidFill>
            <a:srgbClr val="333333">
              <a:alpha val="4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3"/>
          <p:cNvSpPr/>
          <p:nvPr/>
        </p:nvSpPr>
        <p:spPr>
          <a:xfrm>
            <a:off x="731520" y="1645920"/>
            <a:ext cx="10728000" cy="28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Skalabilnost u velikoj mreži: Uspješno simuliran rad DFIG-a u sistemu sa ukupno 54 generatora.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Stabilnost DFIG-a: Lokalne regulacijske petlje vjetroturbine rade stabilno bez uticaja drugih mašina.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Sinhronizam generatora: Preostala 53 sinhrona generatora ostaju u stabilnom radu nakon uključenja DFIG-a.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Damping oscilacija: Brzine rotora sinhronih mašina se brzo prigušuju, potvrđujući da DFIG ne unosi nestabilnost.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Robusnost: Dokazan stabilan rad algoritma u velikim prenosnim mrežama.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"/>
          <p:cNvPicPr/>
          <p:nvPr/>
        </p:nvPicPr>
        <p:blipFill>
          <a:blip r:embed="rId1">
            <a:alphaModFix amt="50000"/>
          </a:blip>
          <a:stretch/>
        </p:blipFill>
        <p:spPr>
          <a:xfrm>
            <a:off x="360" y="360000"/>
            <a:ext cx="12191040" cy="558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" name="TextBox 1"/>
          <p:cNvSpPr/>
          <p:nvPr/>
        </p:nvSpPr>
        <p:spPr>
          <a:xfrm>
            <a:off x="731520" y="457200"/>
            <a:ext cx="1051488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121E31"/>
                </a:solidFill>
                <a:effectLst/>
                <a:uFillTx/>
                <a:latin typeface="Trebuchet MS"/>
              </a:rPr>
              <a:t>Kompajliranje i instalacija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Rectangle 2"/>
          <p:cNvSpPr/>
          <p:nvPr/>
        </p:nvSpPr>
        <p:spPr>
          <a:xfrm>
            <a:off x="731520" y="1188720"/>
            <a:ext cx="10728000" cy="36000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" name=""/>
          <p:cNvSpPr/>
          <p:nvPr/>
        </p:nvSpPr>
        <p:spPr>
          <a:xfrm>
            <a:off x="457200" y="1600200"/>
            <a:ext cx="11201040" cy="3200040"/>
          </a:xfrm>
          <a:prstGeom prst="roundRect">
            <a:avLst>
              <a:gd name="adj" fmla="val 16667"/>
            </a:avLst>
          </a:prstGeom>
          <a:solidFill>
            <a:srgbClr val="333333">
              <a:alpha val="7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3"/>
          <p:cNvSpPr/>
          <p:nvPr/>
        </p:nvSpPr>
        <p:spPr>
          <a:xfrm>
            <a:off x="731520" y="1645920"/>
            <a:ext cx="10728000" cy="277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Linux (GCC / Makefile):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  -  cmake -DCMAKE_BUILD_TYPE=Release .. &amp;&amp; cmake --build . -j$(nproc)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Windows (Visual Studio / MSBuild):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  -  cmake .. &amp;&amp; cmake --build . --config Release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Instalacija: Kopiranje dll/so biblioteke u 'plugins' direktorijum dTwin aplikacije.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Verifikacija: test_runner vrši automatsku konverziju i testiranje rješavača na 9, 30, 118 i 300 sabirnica.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extBox 1"/>
          <p:cNvSpPr/>
          <p:nvPr/>
        </p:nvSpPr>
        <p:spPr>
          <a:xfrm>
            <a:off x="731520" y="457200"/>
            <a:ext cx="1051488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121E31"/>
                </a:solidFill>
                <a:effectLst/>
                <a:uFillTx/>
                <a:latin typeface="Trebuchet MS"/>
              </a:rPr>
              <a:t>Zaključak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Rectangle 2"/>
          <p:cNvSpPr/>
          <p:nvPr/>
        </p:nvSpPr>
        <p:spPr>
          <a:xfrm>
            <a:off x="731520" y="1188720"/>
            <a:ext cx="10728000" cy="36000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3" name=""/>
          <p:cNvSpPr/>
          <p:nvPr/>
        </p:nvSpPr>
        <p:spPr>
          <a:xfrm>
            <a:off x="457200" y="1371600"/>
            <a:ext cx="11201040" cy="2285640"/>
          </a:xfrm>
          <a:prstGeom prst="roundRect">
            <a:avLst>
              <a:gd name="adj" fmla="val 16667"/>
            </a:avLst>
          </a:prstGeom>
          <a:solidFill>
            <a:srgbClr val="333333">
              <a:alpha val="7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3"/>
          <p:cNvSpPr/>
          <p:nvPr/>
        </p:nvSpPr>
        <p:spPr>
          <a:xfrm>
            <a:off x="731520" y="1645920"/>
            <a:ext cx="10728000" cy="164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Uspješna integracija: Milanov DFIG model u potpunosti integrisan u dTwin platformu.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Stabilan rad: Plugin radi bez rušenja na Windows i Linux operativnim sistemima.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Skalabilnost: Testirano i potvrđeno na mrežama do 300 sabirnica (IEEE 300).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•  Visoka numerička stabilnost: Riješeni svi padovi memorije i debalansi jednačina u rješavaču.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</TotalTime>
  <Application>LibreOffice/26.2.4.2$Linux_X86_64 LibreOffice_project/df4f15f06f7b375c1d16aa35fba92d50b262cd01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2026-07-06T21:48:08Z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