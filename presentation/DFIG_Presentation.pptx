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2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8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7" r:id="rId11"/>
    <p:sldMasterId id="2147483668" r:id="rId12"/>
    <p:sldMasterId id="2147483669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12D7C0-F541-4B4C-8927-A48C62C81D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D61E4D-D5A1-4249-AE84-DF00953E78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2E9EA1F-A205-4062-9A9D-CC38E784FC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5E3FF78-1EF7-4F5C-A8FF-179C92686B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8BAA6DD-8F01-4DF2-951C-8F1079F916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0A77785-A1CB-4177-955D-4479ED5E09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CC0D297-8592-4A21-AC6F-FF7488451D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611CEAFC-EA6D-4F02-9195-F8E1971CB0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28EE711A-27BE-4DB4-85C7-F6DB7B6058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2F9A0626-4C75-427B-A719-CA08FE2919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C043AC37-EDF7-4CC7-9009-9F43E576B1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70C97A-6D78-48E7-B952-35E19CE7C35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061073-B5E7-4BBA-8B7C-B8716E860D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4702CE-A760-4F3E-A331-759365D0D97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3A1CAF-0310-4537-9F02-E6EC36A43A4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EA09384-3F43-4D61-9FB0-9D257FB5CC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FF4C1F-4EF9-419D-8D54-5E099C3F28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470EAA-F053-4EB1-8F79-2DE63BE30C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30DB1C-E6CC-4CF2-9290-4C54737E853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0A5C99-B8BC-481B-ABFE-8F09169027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  <p:sldLayoutId id="2147483666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641"/>
              </a:spcBef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641"/>
              </a:spcBef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8DC2F7-1C96-424A-B17D-3EE4C12B23D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spcBef>
                <a:spcPts val="281"/>
              </a:spcBef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0" algn="l" defTabSz="457200">
              <a:spcBef>
                <a:spcPts val="28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E9F5C7A-2467-4777-8339-EF584124431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dt" idx="3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FA7DAF7-1D2D-4D26-A28A-321D501041F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C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/>
          <p:cNvPicPr/>
          <p:nvPr/>
        </p:nvPicPr>
        <p:blipFill>
          <a:blip r:embed="rId1">
            <a:alphaModFix amt="50000"/>
          </a:blip>
          <a:stretch/>
        </p:blipFill>
        <p:spPr>
          <a:xfrm>
            <a:off x="0" y="324360"/>
            <a:ext cx="12191400" cy="607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TextBox 1"/>
          <p:cNvSpPr/>
          <p:nvPr/>
        </p:nvSpPr>
        <p:spPr>
          <a:xfrm>
            <a:off x="914400" y="1828800"/>
            <a:ext cx="10362600" cy="25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Trebuchet MS"/>
              </a:rPr>
              <a:t>Dvostrano napajani asinhroni generator (DFIG)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2200" b="0" u="none" strike="noStrike">
                <a:solidFill>
                  <a:srgbClr val="009688"/>
                </a:solidFill>
                <a:effectLst/>
                <a:uFillTx/>
                <a:latin typeface="Calibri"/>
              </a:rPr>
              <a:t>Dinamičko DAE modeliranje, analiza i plugin pretvarač za dTwin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0"/>
              </a:spcBef>
            </a:pPr>
            <a:r>
              <a:rPr lang="en-US" sz="1600" b="0" u="none" strike="noStrike">
                <a:solidFill>
                  <a:srgbClr val="B4B4B4"/>
                </a:solidFill>
                <a:effectLst/>
                <a:uFillTx/>
                <a:latin typeface="Calibri"/>
              </a:rPr>
              <a:t> |  Prezentacija projekta (5-6 minuta)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1"/>
          <p:cNvSpPr/>
          <p:nvPr/>
        </p:nvSpPr>
        <p:spPr>
          <a:xfrm>
            <a:off x="731520" y="0"/>
            <a:ext cx="105152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21E31"/>
                </a:solidFill>
                <a:effectLst/>
                <a:uFillTx/>
                <a:latin typeface="Trebuchet MS"/>
              </a:rPr>
              <a:t>Šta je to DFIG vjetroturbina?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2"/>
          <p:cNvSpPr/>
          <p:nvPr/>
        </p:nvSpPr>
        <p:spPr>
          <a:xfrm>
            <a:off x="731520" y="731520"/>
            <a:ext cx="10728360" cy="36360"/>
          </a:xfrm>
          <a:prstGeom prst="rect">
            <a:avLst/>
          </a:prstGeom>
          <a:solidFill>
            <a:srgbClr val="009688"/>
          </a:solidFill>
          <a:ln w="9360">
            <a:solidFill>
              <a:srgbClr val="00968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0" name=""/>
          <p:cNvPicPr/>
          <p:nvPr/>
        </p:nvPicPr>
        <p:blipFill>
          <a:blip r:embed="rId1">
            <a:alphaModFix amt="50000"/>
          </a:blip>
          <a:srcRect l="0" t="5556" r="0" b="19991"/>
          <a:stretch/>
        </p:blipFill>
        <p:spPr>
          <a:xfrm>
            <a:off x="1143000" y="2978280"/>
            <a:ext cx="9963720" cy="387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Box 3"/>
          <p:cNvSpPr/>
          <p:nvPr/>
        </p:nvSpPr>
        <p:spPr>
          <a:xfrm>
            <a:off x="731520" y="960120"/>
            <a:ext cx="10728360" cy="21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•  Stator direktno spojen na mrežu: Radi na konstantnoj frekvenciji trofazne mreže.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•  Rotor spojen preko back-to-back pretvarača: Sastoji se od RSC (rotor) i GSC (mreža) pretvarača.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•  Kontrola snage klizanja: Pretvarač dimenzionisan samo za snagu klizanja (25-30% nominalne snage), što znatno smanjuje ukupne troškove opreme.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•  Razdvojena (dekuplovana) regulacija snage: Vektorskom kontrolom se nezavisno upravlja aktivnom (P_h) i reaktivnom (Q_h) snagom statora.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457200" y="914400"/>
            <a:ext cx="11201400" cy="2286000"/>
          </a:xfrm>
          <a:prstGeom prst="roundRect">
            <a:avLst>
              <a:gd name="adj" fmla="val 16667"/>
            </a:avLst>
          </a:prstGeom>
          <a:solidFill>
            <a:srgbClr val="333333">
              <a:alpha val="4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1"/>
          <p:cNvSpPr/>
          <p:nvPr/>
        </p:nvSpPr>
        <p:spPr>
          <a:xfrm>
            <a:off x="731520" y="457200"/>
            <a:ext cx="105152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21E31"/>
                </a:solidFill>
                <a:effectLst/>
                <a:uFillTx/>
                <a:latin typeface="Trebuchet MS"/>
              </a:rPr>
              <a:t>Matematički model: Milanov dq-DAE model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2"/>
          <p:cNvSpPr/>
          <p:nvPr/>
        </p:nvSpPr>
        <p:spPr>
          <a:xfrm>
            <a:off x="731520" y="1188720"/>
            <a:ext cx="10728360" cy="36360"/>
          </a:xfrm>
          <a:prstGeom prst="rect">
            <a:avLst/>
          </a:prstGeom>
          <a:solidFill>
            <a:srgbClr val="009688"/>
          </a:solidFill>
          <a:ln w="9360">
            <a:solidFill>
              <a:srgbClr val="00968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"/>
          <p:cNvSpPr/>
          <p:nvPr/>
        </p:nvSpPr>
        <p:spPr>
          <a:xfrm>
            <a:off x="457200" y="1600200"/>
            <a:ext cx="11201400" cy="2971800"/>
          </a:xfrm>
          <a:prstGeom prst="roundRect">
            <a:avLst>
              <a:gd name="adj" fmla="val 16667"/>
            </a:avLst>
          </a:prstGeom>
          <a:solidFill>
            <a:srgbClr val="333333">
              <a:alpha val="81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731520" y="1645920"/>
            <a:ext cx="10728360" cy="277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Tri dinamičke varijable stanja (ODE):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-  Brzina rotora (w_m): Dinamika ravnoteže mehaničkog i elektromagnetnog momenta.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-  Rotorske struje (i_rq, i_rd): Vremenska kašnjenja prvog reda koja modeliraju RSC kontroler.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Elektromagnetni moment (T_e): Algebarski povezuje rotorsku struju i_rq i napon sabirnice v_h.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Ubrizgavanje snage u mrežu: Računanje aktivne snage P_h i reaktivne snage Q_h na sabirnici generatora.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Kompatibilnost sa rješavačem: Jednačine unesene direktno u ODE blokove radi stabilnijeg rada.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/>
          <p:nvPr/>
        </p:nvSpPr>
        <p:spPr>
          <a:xfrm>
            <a:off x="731520" y="457200"/>
            <a:ext cx="105152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21E31"/>
                </a:solidFill>
                <a:effectLst/>
                <a:uFillTx/>
                <a:latin typeface="Trebuchet MS"/>
              </a:rPr>
              <a:t>Arhitektura programa i ModelConverter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2"/>
          <p:cNvSpPr/>
          <p:nvPr/>
        </p:nvSpPr>
        <p:spPr>
          <a:xfrm>
            <a:off x="731520" y="1188720"/>
            <a:ext cx="10728360" cy="36360"/>
          </a:xfrm>
          <a:prstGeom prst="rect">
            <a:avLst/>
          </a:prstGeom>
          <a:solidFill>
            <a:srgbClr val="009688"/>
          </a:solidFill>
          <a:ln w="9360">
            <a:solidFill>
              <a:srgbClr val="00968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"/>
          <p:cNvSpPr/>
          <p:nvPr/>
        </p:nvSpPr>
        <p:spPr>
          <a:xfrm>
            <a:off x="457200" y="1600200"/>
            <a:ext cx="11201400" cy="2971800"/>
          </a:xfrm>
          <a:prstGeom prst="roundRect">
            <a:avLst>
              <a:gd name="adj" fmla="val 16667"/>
            </a:avLst>
          </a:prstGeom>
          <a:solidFill>
            <a:srgbClr val="333333">
              <a:alpha val="8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731520" y="1645920"/>
            <a:ext cx="10728360" cy="28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Faze 1-3: Parsiranje XML-a i izgradnja matrica (rijetka Y-bus matrica admitansi, guste matrice napona i parametara).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Faze 4-5: Zapisivanje konfiguracionog zaglavlja DMODL-a i deklaracija početnih stanja varijabli.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Faza 6: Sekcija parametara s konstantama i registracija algebarskih izlaza kao [out=true].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Faze 7-10: Generisanje ODE jednačina, postprocesiranja i kreiranje izlaznih datoteka (.dmodl i .vmodl).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Memorijska stabilnost: Pisanje putem lokalnih bafera sprečava curenje memorije i rušenje dTwin-a.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/>
          <p:nvPr/>
        </p:nvSpPr>
        <p:spPr>
          <a:xfrm>
            <a:off x="731520" y="457200"/>
            <a:ext cx="105152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21E31"/>
                </a:solidFill>
                <a:effectLst/>
                <a:uFillTx/>
                <a:latin typeface="Trebuchet MS"/>
              </a:rPr>
              <a:t>Simulacija i analiza: IEEE 9-sabirnički sistem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2"/>
          <p:cNvSpPr/>
          <p:nvPr/>
        </p:nvSpPr>
        <p:spPr>
          <a:xfrm>
            <a:off x="731520" y="1188720"/>
            <a:ext cx="10728360" cy="36360"/>
          </a:xfrm>
          <a:prstGeom prst="rect">
            <a:avLst/>
          </a:prstGeom>
          <a:solidFill>
            <a:srgbClr val="009688"/>
          </a:solidFill>
          <a:ln w="9360">
            <a:solidFill>
              <a:srgbClr val="00968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"/>
          <p:cNvSpPr/>
          <p:nvPr/>
        </p:nvSpPr>
        <p:spPr>
          <a:xfrm>
            <a:off x="457200" y="1600200"/>
            <a:ext cx="11201400" cy="3657600"/>
          </a:xfrm>
          <a:prstGeom prst="roundRect">
            <a:avLst>
              <a:gd name="adj" fmla="val 16667"/>
            </a:avLst>
          </a:prstGeom>
          <a:solidFill>
            <a:srgbClr val="333333">
              <a:alpha val="7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731520" y="1645920"/>
            <a:ext cx="10728360" cy="34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Aktivna snaga (P_h): Brzo se stabilizuje na vrijednosti od oko 1.63 p.u. (163 MW na bazi 100 MVA).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Reaktivna snaga (Q_h): Reguliše se na stabilnih -0.12 p.u. radi pružanja naponske podrške sabirnici.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Dinamika rotora: Brzina rotora (w_m) glatko ubrzava sa 1.0 p.u. i ustaljuje se na optimalnih 1.2 p.u.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Upravljanje strujama: Rotorske struje (i_rq i i_rd) stabilno prate reference pretvarača na strani rotora.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Stabilnost sinhronih mašina: Oscilacije uglova i brzina preostala dva generatora prigušuju se za manje od 4 sekunde.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"/>
          <p:cNvSpPr/>
          <p:nvPr/>
        </p:nvSpPr>
        <p:spPr>
          <a:xfrm>
            <a:off x="731520" y="457200"/>
            <a:ext cx="105152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B2B2B2"/>
                </a:solidFill>
                <a:effectLst/>
                <a:uFillTx/>
                <a:latin typeface="Trebuchet MS"/>
              </a:rPr>
              <a:t>Simulacija i analiza: IEEE 118-sabirnički sistem</a:t>
            </a:r>
            <a:endParaRPr lang="en-US" sz="3200" b="0" u="none" strike="noStrike">
              <a:solidFill>
                <a:srgbClr val="B2B2B2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2"/>
          <p:cNvSpPr/>
          <p:nvPr/>
        </p:nvSpPr>
        <p:spPr>
          <a:xfrm>
            <a:off x="731520" y="1188720"/>
            <a:ext cx="10728360" cy="36360"/>
          </a:xfrm>
          <a:prstGeom prst="rect">
            <a:avLst/>
          </a:prstGeom>
          <a:solidFill>
            <a:srgbClr val="009688"/>
          </a:solidFill>
          <a:ln w="9360">
            <a:solidFill>
              <a:srgbClr val="00968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"/>
          <p:cNvSpPr/>
          <p:nvPr/>
        </p:nvSpPr>
        <p:spPr>
          <a:xfrm>
            <a:off x="457200" y="1600200"/>
            <a:ext cx="11201400" cy="3200400"/>
          </a:xfrm>
          <a:prstGeom prst="roundRect">
            <a:avLst>
              <a:gd name="adj" fmla="val 16667"/>
            </a:avLst>
          </a:prstGeom>
          <a:solidFill>
            <a:srgbClr val="333333">
              <a:alpha val="4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3"/>
          <p:cNvSpPr/>
          <p:nvPr/>
        </p:nvSpPr>
        <p:spPr>
          <a:xfrm>
            <a:off x="731520" y="1645920"/>
            <a:ext cx="10728360" cy="28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Skalabilnost u velikoj mreži: Uspješno simuliran rad DFIG-a u sistemu sa ukupno 54 generatora.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Stabilnost DFIG-a: Lokalne regulacijske petlje vjetroturbine rade stabilno bez uticaja drugih mašina.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Sinhronizam generatora: Preostala 53 sinhrona generatora ostaju u stabilnom radu nakon uključenja DFIG-a.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Damping oscilacija: Brzine rotora sinhronih mašina se brzo prigušuju, potvrđujući da DFIG ne unosi nestabilnost.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Robusnost: Dokazan stabilan rad algoritma u velikim prenosnim mrežama.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"/>
          <p:cNvPicPr/>
          <p:nvPr/>
        </p:nvPicPr>
        <p:blipFill>
          <a:blip r:embed="rId1">
            <a:alphaModFix amt="50000"/>
          </a:blip>
          <a:stretch/>
        </p:blipFill>
        <p:spPr>
          <a:xfrm>
            <a:off x="360" y="360000"/>
            <a:ext cx="12191400" cy="55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Box 1"/>
          <p:cNvSpPr/>
          <p:nvPr/>
        </p:nvSpPr>
        <p:spPr>
          <a:xfrm>
            <a:off x="731520" y="457200"/>
            <a:ext cx="105152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21E31"/>
                </a:solidFill>
                <a:effectLst/>
                <a:uFillTx/>
                <a:latin typeface="Trebuchet MS"/>
              </a:rPr>
              <a:t>Kompajliranje i instalacija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2"/>
          <p:cNvSpPr/>
          <p:nvPr/>
        </p:nvSpPr>
        <p:spPr>
          <a:xfrm>
            <a:off x="731520" y="1188720"/>
            <a:ext cx="10728360" cy="36360"/>
          </a:xfrm>
          <a:prstGeom prst="rect">
            <a:avLst/>
          </a:prstGeom>
          <a:solidFill>
            <a:srgbClr val="009688"/>
          </a:solidFill>
          <a:ln w="9360">
            <a:solidFill>
              <a:srgbClr val="00968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"/>
          <p:cNvSpPr/>
          <p:nvPr/>
        </p:nvSpPr>
        <p:spPr>
          <a:xfrm>
            <a:off x="457200" y="1600200"/>
            <a:ext cx="11201400" cy="3200400"/>
          </a:xfrm>
          <a:prstGeom prst="roundRect">
            <a:avLst>
              <a:gd name="adj" fmla="val 16667"/>
            </a:avLst>
          </a:prstGeom>
          <a:solidFill>
            <a:srgbClr val="333333">
              <a:alpha val="7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3"/>
          <p:cNvSpPr/>
          <p:nvPr/>
        </p:nvSpPr>
        <p:spPr>
          <a:xfrm>
            <a:off x="731520" y="1645920"/>
            <a:ext cx="10728360" cy="277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Linux (GCC / Makefile):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-  cmake -DCMAKE_BUILD_TYPE=Release .. &amp;&amp; cmake --build . -j$(nproc)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Windows (Visual Studio / MSBuild):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-  cmake .. &amp;&amp; cmake --build . --config Release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Instalacija: Kopiranje dll/so biblioteke u 'plugins' direktorijum dTwin aplikacije.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Verifikacija: test_runner vrši automatsku konverziju i testiranje rješavača na 9, 30, 118 i 300 sabirnica.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4"/>
          <p:cNvSpPr/>
          <p:nvPr/>
        </p:nvSpPr>
        <p:spPr>
          <a:xfrm>
            <a:off x="731520" y="457200"/>
            <a:ext cx="105152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Trebuchet MS"/>
              </a:rPr>
              <a:t>Kako se koristi plugin u dTwin-u?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3"/>
          <p:cNvSpPr/>
          <p:nvPr/>
        </p:nvSpPr>
        <p:spPr>
          <a:xfrm>
            <a:off x="731520" y="1188720"/>
            <a:ext cx="10728360" cy="3636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5"/>
          <p:cNvSpPr/>
          <p:nvPr/>
        </p:nvSpPr>
        <p:spPr>
          <a:xfrm>
            <a:off x="731520" y="1645920"/>
            <a:ext cx="10728360" cy="28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Korak 1: Pokretanje dTwin grafičkog interfejsa (GUI).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Korak 2: Otvaranje menija za uvoz: Izabrati opciju **Import -&gt; Vjetroelektrana DFIG Converter**.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Korak 3: Odabir XML mreže: Učitati željeni IEEE XML fajl (npr. case9.xml ili case30.xml) iz testData foldera.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Korak 4: Pokretanje konverzije: Definisati putanju za izlazni model i kliknuti na dugme **Convert**.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Korak 5: Simulacija: Otvoriti generisani .dmodl fajl u dTwin-u i kliknuti na **Solve** za rješavanje sistema.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"/>
          <p:cNvSpPr/>
          <p:nvPr/>
        </p:nvSpPr>
        <p:spPr>
          <a:xfrm>
            <a:off x="731520" y="457200"/>
            <a:ext cx="105152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21E31"/>
                </a:solidFill>
                <a:effectLst/>
                <a:uFillTx/>
                <a:latin typeface="Trebuchet MS"/>
              </a:rPr>
              <a:t>Zaključak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2"/>
          <p:cNvSpPr/>
          <p:nvPr/>
        </p:nvSpPr>
        <p:spPr>
          <a:xfrm>
            <a:off x="731520" y="1188720"/>
            <a:ext cx="10728360" cy="36360"/>
          </a:xfrm>
          <a:prstGeom prst="rect">
            <a:avLst/>
          </a:prstGeom>
          <a:solidFill>
            <a:srgbClr val="009688"/>
          </a:solidFill>
          <a:ln w="9360">
            <a:solidFill>
              <a:srgbClr val="00968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"/>
          <p:cNvSpPr/>
          <p:nvPr/>
        </p:nvSpPr>
        <p:spPr>
          <a:xfrm>
            <a:off x="457200" y="1371600"/>
            <a:ext cx="11201400" cy="2286000"/>
          </a:xfrm>
          <a:prstGeom prst="roundRect">
            <a:avLst>
              <a:gd name="adj" fmla="val 16667"/>
            </a:avLst>
          </a:prstGeom>
          <a:solidFill>
            <a:srgbClr val="333333">
              <a:alpha val="7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3"/>
          <p:cNvSpPr/>
          <p:nvPr/>
        </p:nvSpPr>
        <p:spPr>
          <a:xfrm>
            <a:off x="731520" y="1645920"/>
            <a:ext cx="10728360" cy="16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Uspješna integracija: Milanov DFIG model u potpunosti integrisan u dTwin platformu.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Stabilan rad: Plugin radi bez rušenja na Windows i Linux operativnim sistemima.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Skalabilnost: Testirano i potvrđeno na mrežama do 300 sabirnica (IEEE 300).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 Visoka numerička stabilnost: Riješeni svi padovi memorije i debalansi jednačina u rješavaču.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LibreOffice/26.2.4.2$Linux_X86_64 LibreOffice_project/df4f15f06f7b375c1d16aa35fba92d50b262cd01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2026-07-08T22:38:52Z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