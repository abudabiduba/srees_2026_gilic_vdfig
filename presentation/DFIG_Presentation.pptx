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DE09C2-E6B8-4484-994B-AF4D9A3379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3A6AC5-F384-4F55-B4EE-725EDE6A5F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0D205A-6061-48E7-A0B8-DFB9B77D23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DC1CAA-6E74-490C-959B-5DBBAEA292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FB03FE-A1C4-4C3C-B6B1-D6C6F8A650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19E25E-1B7C-4793-A723-3F41DBEFFD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A9AFA9-9665-4E19-B9B7-B827B85E8D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312AE1-FCC0-4AB2-A547-440FE5710D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501C725-43BA-40C2-BF2A-8F32D1A393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EC9906-F145-4F7E-988B-0E5630E3A0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072D9B-1F86-4DF2-8C28-B9FDB3D20D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0" y="324360"/>
            <a:ext cx="12191400" cy="607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Box 1"/>
          <p:cNvSpPr/>
          <p:nvPr/>
        </p:nvSpPr>
        <p:spPr>
          <a:xfrm>
            <a:off x="914400" y="1828800"/>
            <a:ext cx="10362600" cy="25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Trebuchet MS"/>
              </a:rPr>
              <a:t>Dvostrano napajani asinhroni generator (DFIG)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</a:pPr>
            <a:r>
              <a:rPr lang="en-US" sz="2200" b="0" u="none" strike="noStrike">
                <a:solidFill>
                  <a:srgbClr val="009688"/>
                </a:solidFill>
                <a:effectLst/>
                <a:uFillTx/>
                <a:latin typeface="Calibri"/>
              </a:rPr>
              <a:t>Dinamičko DAE modeliranje, analiza i plugin pretvarač za dTwin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0"/>
              </a:spcBef>
            </a:pPr>
            <a:r>
              <a:rPr lang="en-US" sz="1600" b="0" u="none" strike="noStrike">
                <a:solidFill>
                  <a:srgbClr val="B4B4B4"/>
                </a:solidFill>
                <a:effectLst/>
                <a:uFillTx/>
                <a:latin typeface="Calibri"/>
              </a:rPr>
              <a:t>  |  Prezentacija projekta (5-6 minuta)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731520" y="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Šta je to DFIG vjetroturbina?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2"/>
          <p:cNvSpPr/>
          <p:nvPr/>
        </p:nvSpPr>
        <p:spPr>
          <a:xfrm>
            <a:off x="731520" y="7315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7" name=""/>
          <p:cNvPicPr/>
          <p:nvPr/>
        </p:nvPicPr>
        <p:blipFill>
          <a:blip r:embed="rId1">
            <a:alphaModFix amt="50000"/>
          </a:blip>
          <a:srcRect l="0" t="5556" r="0" b="19991"/>
          <a:stretch/>
        </p:blipFill>
        <p:spPr>
          <a:xfrm>
            <a:off x="1143000" y="2978280"/>
            <a:ext cx="9963720" cy="387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3"/>
          <p:cNvSpPr/>
          <p:nvPr/>
        </p:nvSpPr>
        <p:spPr>
          <a:xfrm>
            <a:off x="731520" y="960120"/>
            <a:ext cx="10728360" cy="21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Stator direktno spojen na mrežu: Radi na konstantnoj frekvenciji trofazne mreže.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Rotor spojen preko back-to-back pretvarača: Sastoji se od RSC (rotor) i GSC (mreža) pretvarača.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Kontrola snage klizanja: Pretvarač dimenzionisan samo za snagu klizanja (25-30% nominalne snage), što znatno smanjuje ukupne troškove opreme.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Razdvojena (dekuplovana) regulacija snage: Vektorskom kontrolom se nezavisno upravlja aktivnom (P_h) i reaktivnom (Q_h) snagom statora.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457200" y="914400"/>
            <a:ext cx="11201400" cy="2286000"/>
          </a:xfrm>
          <a:prstGeom prst="roundRect">
            <a:avLst>
              <a:gd name="adj" fmla="val 16667"/>
            </a:avLst>
          </a:prstGeom>
          <a:solidFill>
            <a:srgbClr val="333333">
              <a:alpha val="4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Matematički model: Milanov dq-DAE model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457200" y="1600200"/>
            <a:ext cx="11201400" cy="2971800"/>
          </a:xfrm>
          <a:prstGeom prst="roundRect">
            <a:avLst>
              <a:gd name="adj" fmla="val 16667"/>
            </a:avLst>
          </a:prstGeom>
          <a:solidFill>
            <a:srgbClr val="333333">
              <a:alpha val="81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731520" y="1645920"/>
            <a:ext cx="10728360" cy="27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Tri dinamičke varijable stanja (ODE):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Brzina rotora (w_m): Dinamika ravnoteže mehaničkog i elektromagnetnog momenta.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Rotorske struje (i_rq, i_rd): Vremenska kašnjenja prvog reda koja modeliraju RSC kontroler.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Elektromagnetni moment (T_e): Algebarski povezuje rotorsku struju i_rq i napon sabirnice v_h.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Ubrizgavanje snage u mrežu: Računanje aktivne snage P_h i reaktivne snage Q_h na sabirnici generatora.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Kompatibilnost sa rješavačem: Jednačine unesene direktno u ODE blokove radi stabilnijeg rada.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Arhitektura programa i ModelConverter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457200" y="1600200"/>
            <a:ext cx="11201400" cy="2971800"/>
          </a:xfrm>
          <a:prstGeom prst="roundRect">
            <a:avLst>
              <a:gd name="adj" fmla="val 16667"/>
            </a:avLst>
          </a:prstGeom>
          <a:solidFill>
            <a:srgbClr val="333333">
              <a:alpha val="8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1645920"/>
            <a:ext cx="10728360" cy="28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1-3: Parsiranje XML-a i izgradnja matrica (rijetka Y-bus matrica admitansi, guste matrice napona i parametara).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4-5: Zapisivanje konfiguracionog zaglavlja DMODL-a i deklaracija početnih stanja varijabli.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Faza 6: Sekcija parametara s konstantama i registracija algebarskih izlaza kao [out=true].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7-10: Generisanje ODE jednačina, postprocesiranja i kreiranje izlaznih datoteka (.dmodl i .vmodl).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Memorijska stabilnost: Pisanje putem lokalnih bafera sprečava curenje memorije i rušenje dTwin-a.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Simulacija i analiza: IEEE 9-sabirnički sistem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"/>
          <p:cNvSpPr/>
          <p:nvPr/>
        </p:nvSpPr>
        <p:spPr>
          <a:xfrm>
            <a:off x="457200" y="1600200"/>
            <a:ext cx="11201400" cy="365760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731520" y="1645920"/>
            <a:ext cx="10728360" cy="34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Aktivna snaga (P_h): Brzo se stabilizuje na vrijednosti od oko 1.63 p.u. (163 MW na bazi 100 MVA).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Reaktivna snaga (Q_h): Reguliše se na stabilnih -0.12 p.u. radi pružanja naponske podrške sabirnici.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Dinamika rotora: Brzina rotora (w_m) glatko ubrzava sa 1.0 p.u. i ustaljuje se na optimalnih 1.2 p.u.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Upravljanje strujama: Rotorske struje (i_rq i i_rd) stabilno prate reference pretvarača na strani rotora.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Stabilnost sinhronih mašina: Oscilacije uglova i brzina preostala dva generatora prigušuju se za manje od 4 sekunde.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Simulacija i analiza: IEEE 118-sabirnički sistem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"/>
          <p:cNvSpPr/>
          <p:nvPr/>
        </p:nvSpPr>
        <p:spPr>
          <a:xfrm>
            <a:off x="457200" y="1600200"/>
            <a:ext cx="11201400" cy="3200400"/>
          </a:xfrm>
          <a:prstGeom prst="roundRect">
            <a:avLst>
              <a:gd name="adj" fmla="val 16667"/>
            </a:avLst>
          </a:prstGeom>
          <a:solidFill>
            <a:srgbClr val="333333">
              <a:alpha val="4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731520" y="1645920"/>
            <a:ext cx="10728360" cy="28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Skalabilnost u velikoj mreži: Uspješno simuliran rad DFIG-a u sistemu sa ukupno 54 generatora.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Stabilnost DFIG-a: Lokalne regulacijske petlje vjetroturbine rade stabilno bez uticaja drugih mašina.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Sinhronizam generatora: Preostala 53 sinhrona generatora ostaju u stabilnom radu nakon uključenja DFIG-a.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Damping oscilacija: Brzine rotora sinhronih mašina se brzo prigušuju, potvrđujući da DFIG ne unosi nestabilnost.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Robusnost: Dokazan stabilan rad algoritma u velikim prenosnim mrežama.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360" y="360000"/>
            <a:ext cx="12191400" cy="55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Kompajliranje i instalacija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"/>
          <p:cNvSpPr/>
          <p:nvPr/>
        </p:nvSpPr>
        <p:spPr>
          <a:xfrm>
            <a:off x="457200" y="1600200"/>
            <a:ext cx="11201400" cy="320040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731520" y="1645920"/>
            <a:ext cx="10728360" cy="27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Linux (GCC / Makefile):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cmake -DCMAKE_BUILD_TYPE=Release .. &amp;&amp; cmake --build . -j$(nproc)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Windows (Visual Studio / MSBuild):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cmake .. &amp;&amp; cmake --build . --config Release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Instalacija: Kopiranje dll/so biblioteke u 'plugins' direktorijum dTwin aplikacije.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Verifikacija: test_runner vrši automatsku konverziju i testiranje rješavača na 9, 30, 118 i 300 sabirnica.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731520" y="457200"/>
            <a:ext cx="10515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Zaključak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731520" y="1188720"/>
            <a:ext cx="10728360" cy="3636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"/>
          <p:cNvSpPr/>
          <p:nvPr/>
        </p:nvSpPr>
        <p:spPr>
          <a:xfrm>
            <a:off x="457200" y="1371600"/>
            <a:ext cx="11201400" cy="228600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731520" y="1645920"/>
            <a:ext cx="1072836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Uspješna integracija: Milanov DFIG model u potpunosti integrisan u dTwin platformu.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Stabilan rad: Plugin radi bez rušenja na Windows i Linux operativnim sistemima.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Skalabilnost: Testirano i potvrđeno na mrežama do 300 sabirnica (IEEE 300).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Visoka numerička stabilnost: Riješeni svi padovi memorije i debalansi jednačina u rješavaču.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LibreOffice/26.2.4.2$Linux_X86_64 LibreOffice_project/df4f15f06f7b375c1d16aa35fba92d50b262cd01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2026-07-06T21:00:30Z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