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Trebuchet MS"/>
              </a:defRPr>
            </a:pPr>
            <a:r>
              <a:t>Doubly-Fed Induction Generator (DFIG)</a:t>
            </a:r>
          </a:p>
          <a:p>
            <a:pPr algn="l">
              <a:spcBef>
                <a:spcPts val="1000"/>
              </a:spcBef>
              <a:defRPr sz="2400">
                <a:solidFill>
                  <a:srgbClr val="009688"/>
                </a:solidFill>
                <a:latin typeface="Calibri"/>
              </a:defRPr>
            </a:pPr>
            <a:r>
              <a:t>Dynamic DAE Modeling and dTwin Integration Plugin</a:t>
            </a:r>
          </a:p>
          <a:p>
            <a:pPr algn="l">
              <a:spcBef>
                <a:spcPts val="4000"/>
              </a:spcBef>
              <a:defRPr sz="1600">
                <a:solidFill>
                  <a:srgbClr val="B4B4B4"/>
                </a:solidFill>
                <a:latin typeface="Calibri"/>
              </a:defRPr>
            </a:pPr>
            <a:r>
              <a:t>SREES 2026 Project Group  |  5-6 Minute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What is a DFIG Wind Turbine?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Stator Wound Connected Directly to the Grid: Operates at constant grid frequency.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Rotor Connected via Back-to-Back Converters: Features Rotor-Side (RSC) and Grid-Side (GSC) converters.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Slip-Power Control Strategy: Converter size is only rated for slip power (25-30% of total rating), significantly reducing cost.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Decoupled Power Regulation: Independent control of stator active (P_h) and reactive (Q_h) power injected into the grid.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Mathematical Model: Milano's dq-Frame DAE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Three Dynamic State Variables (ODEs):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Rotor speed (w_m): mechanical-to-electromagnetic torque balance dynamics.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Rotor currents (i_rq, i_rd): first-order transient lags representing the RSC controller.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Electromagnetic Torque (T_e): Algebraically links rotor current i_rq and terminal voltage v_h.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Grid Injections: Calculates instantaneous active power P_h and reactive power Q_h injected into the generator bus.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Solver Compatibility: Inlined math expressions directly inside ODEs to simplify symbol table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Program Architecture &amp; ModelConverter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Stage 1-3: XML parsing and Matrix Construction (sparse complex Y-bus, dense voltages).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Stage 4-5: Emitting model header configuration and variable declarations (initial conditions).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Stage 6: Emitting parameter section with constant overrides and registering algebraic variables.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Stage 7-10: Generating ODEs, post-processing formulas, and writing output files (.dmodl and .vmodl).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Clean Output Separation: Local buffer memory streams ensure no host memory leakage.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Key Technical Accomplishments (Debugging)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Equation Imbalance Resolved: Declared P_e, P_h, and Q_h as Out parameters in the Params block to balance variables.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Null-Pointer dereference Fixed: Prevented solver crashes by registering calculated post-proc symbols.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MemoryOut Corruption Fixed: Removed MemoryOut::reset() calls which corrupted internal base class counters in the host.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ASCII Character Sanitization: Replaced Unicode en-dashes/em-dashes to avoid file scanner parsing errors.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LyX 2.5.1 Compatibility: Stripped format-specific metadata to ensure clean multi-platform PDF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Compilation &amp; Installation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Linux (GCC / Makefiles):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-DCMAKE_BUILD_TYPE=Release .. &amp;&amp; cmake --build . -j$(nproc)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Windows (Visual Studio / MSBuild):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.. &amp;&amp; cmake --build . --config Release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Installation: Copy compiled library (dfigPlugin.dll / libdfigPlugin.so) to the dTwin plugins/ directory.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Verification: Run test_runner to batch-convert IEEE 9, 30, 118, and 300-bus systems and verify solver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Conclusion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Robust Integration: Milano's DFIG model successfully implemented in dTwin platform.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Zero-Crash Performance: Both Windows &amp; Linux plugin versions compile and solve successfully.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Full Scalability: Runs and solves successfully on systems from 9 to 300 buses.</a:t>
            </a:r>
          </a:p>
          <a:p>
            <a:pPr>
              <a:spcBef>
                <a:spcPts val="14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Future Work: Extend to include pitch angle controller dynamics and multi-machine grid configurations.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